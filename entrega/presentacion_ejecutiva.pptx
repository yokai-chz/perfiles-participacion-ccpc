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980000"/>
            <a:ext cx="104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0B0B0B"/>
                </a:solidFill>
                <a:latin typeface="Liberation Sans"/>
              </a:rPr>
              <a:t>Perfiles ciudadanos de participación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3420000"/>
            <a:ext cx="104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52514E"/>
                </a:solidFill>
                <a:latin typeface="Liberation Sans"/>
              </a:rPr>
              <a:t>Cinco maneras de participar en las elecciones federales, 2009 a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4860000"/>
            <a:ext cx="104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Liberation Sans"/>
              </a:rPr>
              <a:t>Eje 1, Reto 1 · [NOMBRE DEL EQUIPO]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Liberation Sans"/>
              </a:rPr>
              <a:t>Borrador para revisión del equipo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24000"/>
            <a:ext cx="11088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Liberation Sans"/>
              </a:rPr>
              <a:t>Seis elecciones, 32 entidades y una pregunta: ¿qué tipos de ciudadanía existen?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440000"/>
            <a:ext cx="504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Liberation Sans"/>
              </a:rPr>
              <a:t>Fuente: Conteos Censales de Participación Ciudadana (INE), 2009 a 2024.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Liberation Sans"/>
              </a:rPr>
              <a:t>54,872,712 filas agregadas por sección, sexo y edad; sin datos personales.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Liberation Sans"/>
              </a:rPr>
              <a:t>Lista nominal de 2024: 98,330,348 personas.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Liberation Sans"/>
              </a:rPr>
              <a:t>Participación = SV / (SV + NV), sin las personas sin dato de voto.</a:t>
            </a:r>
          </a:p>
        </p:txBody>
      </p:sp>
      <p:pic>
        <p:nvPicPr>
          <p:cNvPr id="4" name="Picture 3" descr="participacion_nac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000" y="1512000"/>
            <a:ext cx="5760000" cy="29729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24000"/>
            <a:ext cx="11088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Liberation Sans"/>
              </a:rPr>
              <a:t>El método: celdas demográficas agrupadas por su comportamiento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440000"/>
            <a:ext cx="11088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0B0B0B"/>
                </a:solidFill>
                <a:latin typeface="Liberation Sans"/>
              </a:rPr>
              <a:t>1. Unidad: celda = grupo de edad × sexo × tipo de sección × entidad.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0B0B0B"/>
                </a:solidFill>
                <a:latin typeface="Liberation Sans"/>
              </a:rPr>
              <a:t>2. Medida: participación de la celda menos la de su entidad, en cada elección.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0B0B0B"/>
                </a:solidFill>
                <a:latin typeface="Liberation Sans"/>
              </a:rPr>
              <a:t>3. Tres rasgos: nivel, brecha (presidencial menos intermedia) y tendencia.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0B0B0B"/>
                </a:solidFill>
                <a:latin typeface="Liberation Sans"/>
              </a:rPr>
              <a:t>4. K-means ponderado por lista nominal, semilla fija, k entre 4 y 6.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0B0B0B"/>
                </a:solidFill>
                <a:latin typeface="Liberation Sans"/>
              </a:rPr>
              <a:t>5. Validación: silhouette y estabilidad entre semillas y submuestras. Se eligió k = 5.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0B0B0B"/>
                </a:solidFill>
                <a:latin typeface="Liberation Sans"/>
              </a:rPr>
              <a:t>6. Presencia territorial: composición de cada sección, clave (entidad, sección).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24000"/>
            <a:ext cx="11088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Liberation Sans"/>
              </a:rPr>
              <a:t>Medir contra la propia entidad evita perfiles que son etiquetas de estado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620000"/>
          <a:ext cx="11088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00"/>
                <a:gridCol w="1260000"/>
                <a:gridCol w="3420000"/>
                <a:gridCol w="3168000"/>
              </a:tblGrid>
              <a:tr h="43199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0B0B"/>
                          </a:solidFill>
                          <a:latin typeface="Liberation Sans"/>
                        </a:rPr>
                        <a:t>Referencia</a:t>
                      </a:r>
                    </a:p>
                  </a:txBody>
                  <a:tcPr>
                    <a:solidFill>
                      <a:srgbClr val="EEED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0B0B"/>
                          </a:solidFill>
                          <a:latin typeface="Liberation Sans"/>
                        </a:rPr>
                        <a:t>Perfiles</a:t>
                      </a:r>
                    </a:p>
                  </a:txBody>
                  <a:tcPr>
                    <a:solidFill>
                      <a:srgbClr val="EEED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0B0B"/>
                          </a:solidFill>
                          <a:latin typeface="Liberation Sans"/>
                        </a:rPr>
                        <a:t>Entidades con más de 80 % en un perfil</a:t>
                      </a:r>
                    </a:p>
                  </a:txBody>
                  <a:tcPr>
                    <a:solidFill>
                      <a:srgbClr val="EEED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0B0B"/>
                          </a:solidFill>
                          <a:latin typeface="Liberation Sans"/>
                        </a:rPr>
                        <a:t>Varianza de la brecha explicada por la entidad</a:t>
                      </a:r>
                    </a:p>
                  </a:txBody>
                  <a:tcPr>
                    <a:solidFill>
                      <a:srgbClr val="EEEDE9"/>
                    </a:solidFill>
                  </a:tcPr>
                </a:tc>
              </a:tr>
              <a:tr h="431999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Liberation Sans"/>
                        </a:rPr>
                        <a:t>Nacional (prueba de sensibilidad)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Liberation Sans"/>
                        </a:rPr>
                        <a:t>4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Liberation Sans"/>
                        </a:rPr>
                        <a:t>10 de 32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Liberation Sans"/>
                        </a:rPr>
                        <a:t>74 %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432001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Liberation Sans"/>
                        </a:rPr>
                        <a:t>Entidad (análisis principal)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Liberation Sans"/>
                        </a:rPr>
                        <a:t>5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Liberation Sans"/>
                        </a:rPr>
                        <a:t>0 de 32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Liberation Sans"/>
                        </a:rPr>
                        <a:t>0.1 %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0000" y="3420000"/>
            <a:ext cx="11088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B0B0B"/>
                </a:solidFill>
                <a:latin typeface="Liberation Sans"/>
              </a:rPr>
              <a:t>Con la referencia nacional, algunas entidades quedaban casi enteras en un perfil.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B0B0B"/>
                </a:solidFill>
                <a:latin typeface="Liberation Sans"/>
              </a:rPr>
              <a:t>Una explicación posible es la concurrencia de elecciones locales; no se pudo verificar con estos datos.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24000"/>
            <a:ext cx="11088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Liberation Sans"/>
              </a:rPr>
              <a:t>Cinco perfiles; los dos más jóvenes son la prioridad</a:t>
            </a:r>
          </a:p>
        </p:txBody>
      </p:sp>
      <p:pic>
        <p:nvPicPr>
          <p:cNvPr id="3" name="Picture 2" descr="pes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440000"/>
            <a:ext cx="6120000" cy="27638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20000" y="1512000"/>
            <a:ext cx="46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Liberation Sans"/>
              </a:rPr>
              <a:t>34 % de la lista tiene el perfil 1, el más numeroso.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Liberation Sans"/>
              </a:rPr>
              <a:t>El perfil 2 pesa 9 % y es el que más cayó en presidenciales.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Liberation Sans"/>
              </a:rPr>
              <a:t>Los perfiles 3, 4 y 5 son de mayor edad y participan más.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24000"/>
            <a:ext cx="11088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Liberation Sans"/>
              </a:rPr>
              <a:t>Se distinguen por cuánto participan y cómo cambia entre tipos de elección</a:t>
            </a:r>
          </a:p>
        </p:txBody>
      </p:sp>
      <p:pic>
        <p:nvPicPr>
          <p:cNvPr id="3" name="Picture 2" descr="trayector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368000"/>
            <a:ext cx="7020000" cy="41481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0000" y="1512000"/>
            <a:ext cx="378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Liberation Sans"/>
              </a:rPr>
              <a:t>Perfil 1: 16 puntos más en presidenciales que en intermedias.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Liberation Sans"/>
              </a:rPr>
              <a:t>Perfil 2: de 54 % (2012) a 45 % (2024).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Liberation Sans"/>
              </a:rPr>
              <a:t>Perfil 4: de 49 % (2009) a 71 % (2024).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24000"/>
            <a:ext cx="11088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Liberation Sans"/>
              </a:rPr>
              <a:t>Prioridad alta: jóvenes con participación desigual o en caída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440000"/>
            <a:ext cx="5256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B0B0B"/>
                </a:solidFill>
                <a:latin typeface="Liberation Sans"/>
              </a:rPr>
              <a:t>1. Jóvenes urbanos de coyuntura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B0B0B"/>
                </a:solidFill>
                <a:latin typeface="Liberation Sans"/>
              </a:rPr>
              <a:t>34 % de la lista; mediana 25-29 años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B0B0B"/>
                </a:solidFill>
                <a:latin typeface="Liberation Sans"/>
              </a:rPr>
              <a:t>45 % mujeres; 95 % urbana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B0B0B"/>
                </a:solidFill>
                <a:latin typeface="Liberation Sans"/>
              </a:rPr>
              <a:t>Participación 2024: 51 %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3999" y="1440000"/>
            <a:ext cx="5256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B0B0B"/>
                </a:solidFill>
                <a:latin typeface="Liberation Sans"/>
              </a:rPr>
              <a:t>2. Jóvenes del campo en retirada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B0B0B"/>
                </a:solidFill>
                <a:latin typeface="Liberation Sans"/>
              </a:rPr>
              <a:t>9 % de la lista; mediana 25-29 años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B0B0B"/>
                </a:solidFill>
                <a:latin typeface="Liberation Sans"/>
              </a:rPr>
              <a:t>23 % mujeres; 2 % urbana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B0B0B"/>
                </a:solidFill>
                <a:latin typeface="Liberation Sans"/>
              </a:rPr>
              <a:t>Participación 2024: 45 %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24000"/>
            <a:ext cx="11088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Liberation Sans"/>
              </a:rPr>
              <a:t>Prioridad media y mantener: adultez y vejez con participación alta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440000"/>
            <a:ext cx="3408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B0B0B"/>
                </a:solidFill>
                <a:latin typeface="Liberation Sans"/>
              </a:rPr>
              <a:t>3. Adultez urbana constante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Liberation Sans"/>
              </a:rPr>
              <a:t>30 % de la lista; mediana 45-49 años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Liberation Sans"/>
              </a:rPr>
              <a:t>62 % mujeres; 83 % urbana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Liberation Sans"/>
              </a:rPr>
              <a:t>Participación 2024: 64 %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36000" y="1440000"/>
            <a:ext cx="3408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B0B0B"/>
                </a:solidFill>
                <a:latin typeface="Liberation Sans"/>
              </a:rPr>
              <a:t>4. Mayores en ascenso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Liberation Sans"/>
              </a:rPr>
              <a:t>13 % de la lista; mediana 65-69 años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Liberation Sans"/>
              </a:rPr>
              <a:t>68 % mujeres; 62 % urbana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Liberation Sans"/>
              </a:rPr>
              <a:t>Participación 2024: 71 %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32000" y="1440000"/>
            <a:ext cx="3408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B0B0B"/>
                </a:solidFill>
                <a:latin typeface="Liberation Sans"/>
              </a:rPr>
              <a:t>5. Adultez rural de alta participación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Liberation Sans"/>
              </a:rPr>
              <a:t>14 % de la lista; mediana 55-59 años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Liberation Sans"/>
              </a:rPr>
              <a:t>54 % mujeres; 30 % urbana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Liberation Sans"/>
              </a:rPr>
              <a:t>Participación 2024: 70 %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24000"/>
            <a:ext cx="11088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Liberation Sans"/>
              </a:rPr>
              <a:t>Una estrategia distinta para cada perfil, con indicador medible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0000" y="1368000"/>
          <a:ext cx="11448000" cy="259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000"/>
                <a:gridCol w="864000"/>
                <a:gridCol w="4140000"/>
                <a:gridCol w="4212000"/>
              </a:tblGrid>
              <a:tr h="43199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0B0B"/>
                          </a:solidFill>
                          <a:latin typeface="Liberation Sans"/>
                        </a:rPr>
                        <a:t>Perfil</a:t>
                      </a:r>
                    </a:p>
                  </a:txBody>
                  <a:tcPr>
                    <a:solidFill>
                      <a:srgbClr val="EEED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0B0B"/>
                          </a:solidFill>
                          <a:latin typeface="Liberation Sans"/>
                        </a:rPr>
                        <a:t>Prioridad</a:t>
                      </a:r>
                    </a:p>
                  </a:txBody>
                  <a:tcPr>
                    <a:solidFill>
                      <a:srgbClr val="EEED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0B0B"/>
                          </a:solidFill>
                          <a:latin typeface="Liberation Sans"/>
                        </a:rPr>
                        <a:t>Objetivo</a:t>
                      </a:r>
                    </a:p>
                  </a:txBody>
                  <a:tcPr>
                    <a:solidFill>
                      <a:srgbClr val="EEED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0B0B"/>
                          </a:solidFill>
                          <a:latin typeface="Liberation Sans"/>
                        </a:rPr>
                        <a:t>Indicador</a:t>
                      </a:r>
                    </a:p>
                  </a:txBody>
                  <a:tcPr>
                    <a:solidFill>
                      <a:srgbClr val="EEEDE9"/>
                    </a:solidFill>
                  </a:tcPr>
                </a:tc>
              </a:tr>
              <a:tr h="431999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Liberation Sans"/>
                        </a:rPr>
                        <a:t>1. Jóvenes urbanos de coyuntura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Liberation Sans"/>
                        </a:rPr>
                        <a:t>Alta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Liberation Sans"/>
                        </a:rPr>
                        <a:t>Reducir la brecha entre elecciones presidenciales e intermedias.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Liberation Sans"/>
                        </a:rPr>
                        <a:t>Participación de las personas de 20 a 34 años en la elección intermedia de 2027 frente a 2021.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431999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Liberation Sans"/>
                        </a:rPr>
                        <a:t>2. Jóvenes del campo en retirada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Liberation Sans"/>
                        </a:rPr>
                        <a:t>Alta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Liberation Sans"/>
                        </a:rPr>
                        <a:t>Entender y frenar la caída sostenida de participación.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Liberation Sans"/>
                        </a:rPr>
                        <a:t>Participación del perfil en 2027 y 2030 frente a 2024.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431999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Liberation Sans"/>
                        </a:rPr>
                        <a:t>3. Adultez urbana constante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Liberation Sans"/>
                        </a:rPr>
                        <a:t>Media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Liberation Sans"/>
                        </a:rPr>
                        <a:t>Conservar la participación y convertirla en un recurso cívico.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Liberation Sans"/>
                        </a:rPr>
                        <a:t>Aceptación de la invitación como funcionaria o funcionario de casilla.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431999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Liberation Sans"/>
                        </a:rPr>
                        <a:t>4. Mayores en ascenso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Liberation Sans"/>
                        </a:rPr>
                        <a:t>Media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Liberation Sans"/>
                        </a:rPr>
                        <a:t>Sostener el aumento de participación facilitando el acceso.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Liberation Sans"/>
                        </a:rPr>
                        <a:t>Participación del perfil en 2027 frente a 2021 y casillas con acceso revisado.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43200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Liberation Sans"/>
                        </a:rPr>
                        <a:t>5. Adultez rural de alta participación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Liberation Sans"/>
                        </a:rPr>
                        <a:t>Mantener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Liberation Sans"/>
                        </a:rPr>
                        <a:t>Mantener la participación más alta y apoyarse en sus redes comunitarias.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Liberation Sans"/>
                        </a:rPr>
                        <a:t>Participación del perfil en 2027 frente a 2021.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24000"/>
            <a:ext cx="11088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Liberation Sans"/>
              </a:rPr>
              <a:t>Limitaciones y 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440000"/>
            <a:ext cx="11088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0B0B0B"/>
                </a:solidFill>
                <a:latin typeface="Liberation Sans"/>
              </a:rPr>
              <a:t>Sin escolaridad en la fuente; se usa sexo y no género.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0B0B0B"/>
                </a:solidFill>
                <a:latin typeface="Liberation Sans"/>
              </a:rPr>
              <a:t>Los perfiles describen franjas de edad, no a las mismas personas en el tiempo.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0B0B0B"/>
                </a:solidFill>
                <a:latin typeface="Liberation Sans"/>
              </a:rPr>
              <a:t>Las causas (elecciones locales, movilidad laboral) son hipótesis por verificar.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0B0B0B"/>
                </a:solidFill>
                <a:latin typeface="Liberation Sans"/>
              </a:rPr>
              <a:t>Pendiente: contrastar la participación nacional con la plataforma CCPC.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0B0B0B"/>
                </a:solidFill>
                <a:latin typeface="Liberation Sans"/>
              </a:rPr>
              <a:t>Siguiente paso: piloto en dos o tres entidades con las estrategias 1 y 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